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8" r:id="rId9"/>
    <p:sldId id="279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sh Jain" initials="AJ" lastIdx="1" clrIdx="0">
    <p:extLst>
      <p:ext uri="{19B8F6BF-5375-455C-9EA6-DF929625EA0E}">
        <p15:presenceInfo xmlns:p15="http://schemas.microsoft.com/office/powerpoint/2012/main" userId="63b56715352b5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3273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 smtClean="0"/>
              <a:t>The </a:t>
            </a:r>
            <a:r>
              <a:rPr lang="en-US" sz="3600" dirty="0"/>
              <a:t>Influence of Visualization Design on Decision-Making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Saumya Jain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2210990805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CSE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273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3CE95-E211-74D8-9928-CD9FD76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6FE1115-2DA0-CF15-AE5A-FAB9D4CFA35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-404446"/>
            <a:ext cx="8229240" cy="68667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focuses on the influence of visualization design on decision-making.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how charts, graphs, and dashboards affect perception. Analyzes misleading visualizations and cognitive biases.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Investigates ethical issues in data representation.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visualization experiments conducted using surveys. Organizations from multiple industries participated in the study.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show visualization design significantly impacts interpretation and decisions. 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Visualization, Cognitive Bias, Ethical Visualization, Decision-Making, Data Literacy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B01263-218D-E233-9A38-0B1E32F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0039D3D-F42E-A125-D1BD-3F7DF5B6F7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668215"/>
            <a:ext cx="8229240" cy="5495193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rely heavily on visual dashboards and reports.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simplifies complex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and graphs are trusted for decision-making.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communication is widely used across industries.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design can distort interpretation.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charts influence judgment and confidence.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biases affect visual interpretation.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ethical visualization practices creates risks.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0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2F6773-C2BF-0B00-CE11-3D676A50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ECAAB5-9C17-C10A-91D2-C1B309A6BBD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3092" y="518746"/>
            <a:ext cx="8563348" cy="6339253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impact of visualization design on interpretation.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cognitive bias in visual analytics.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ethical and misleading visualizations.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organizational awareness regarding visualization ethics.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transparency and responsible data communication. 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focused on survey-based analysis.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participants from multiple industries.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limited to commonly used visualization techniques.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mainly on visual interpretation and decision-making behaviour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4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1548DC-6F5D-20FD-6FAA-8FA3F4F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198490F-DA62-A4B6-26B3-1BC8D15EC3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7923" y="360485"/>
            <a:ext cx="8598697" cy="6075485"/>
          </a:xfrm>
        </p:spPr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Process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on visualization ethics and cognitive bias.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conducted across organizations and students.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versions of the same dataset visualized differently.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interpreted charts and made decisions.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analyzed using qualitative and quantitative methods.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Areas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comparison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assessment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impact analysis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3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F41D1-9014-8836-4FE6-C035D9F5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5FAA6E1-48EF-78C6-AB55-091A841F4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7731" y="1301260"/>
            <a:ext cx="8229240" cy="4403631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9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9166A5-D2B2-C5ED-8E43-368802FA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824ADD-87C7-8102-CBC3-3099A5D8B1F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7053" y="228600"/>
            <a:ext cx="8229240" cy="5961184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Platforms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 Studio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&amp; Design Tools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9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4000C2-3364-4DB2-3FF0-9E03E3F1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EF972B5-3B85-7AD9-7BE0-05FD95E6FF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131" y="1151791"/>
            <a:ext cx="8668856" cy="4870939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Process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→ Visualization Creation → Survey Collection → Participant Analysis → Comparative Evaluation → Result Analysis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Experiments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chart styles created using same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varying axis scales and colour schemes.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ethical and misleading visualization samples.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compared and interpreted results.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evaluated statistically and comparatively.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levels and interpretation accuracy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1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6EFDC9-B958-7115-9ADC-C8E4CE33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CF8D25E-5CD4-2245-C94A-278E7ABCF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8261" y="800100"/>
            <a:ext cx="8845061" cy="6277708"/>
          </a:xfrm>
        </p:spPr>
        <p:txBody>
          <a:bodyPr/>
          <a:lstStyle/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Findings: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strongly affects decision-making.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charts distort perception.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visualization improves trust and clarity.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biases influence analytical reasoning.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B261BA95-B942-D650-EA69-776C62404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51867"/>
              </p:ext>
            </p:extLst>
          </p:nvPr>
        </p:nvGraphicFramePr>
        <p:xfrm>
          <a:off x="457200" y="1714140"/>
          <a:ext cx="8229600" cy="236849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xmlns="" val="406220369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679601945"/>
                    </a:ext>
                  </a:extLst>
                </a:gridCol>
              </a:tblGrid>
              <a:tr h="473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02767361"/>
                  </a:ext>
                </a:extLst>
              </a:tr>
              <a:tr h="473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Organizations using visualization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5171630"/>
                  </a:ext>
                </a:extLst>
              </a:tr>
              <a:tr h="473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Misinterpretation incidents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8977541"/>
                  </a:ext>
                </a:extLst>
              </a:tr>
              <a:tr h="473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Ethical guideline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5825177"/>
                  </a:ext>
                </a:extLst>
              </a:tr>
              <a:tr h="473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High awareness organizations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5721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861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5370F6-E3F5-0D13-108E-1E1A913F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8839C1-7ADA-4D77-A6EB-C5C47B310B2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508" y="826477"/>
            <a:ext cx="8580932" cy="5407269"/>
          </a:xfrm>
        </p:spPr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 &amp; Visualization Impact: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Observations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Truncated axes exaggerated trends.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intensity influenced emotional response.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trusted visually attractive charts more.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data produced different interpretations depending on design.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Outcome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design directly influences interpretation, confidence levels, and organizational decision-making processes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49C0D6-A442-0E76-FD60-1A824DEA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9E73048-AF9C-0E86-9AA8-D469133CFBA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130" y="1055077"/>
            <a:ext cx="8607309" cy="5292969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design significantly impacts human perception.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visuals can distort analytical reasoning.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visualization practices improve transparency.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biases affect interpretation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stronger data literacy awareness.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AI-generated visualizations and dashboards.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ethical visualization frameworks.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research across industries and countries.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visualization literacy training programs.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real-time interactive analytics systems.</a:t>
            </a:r>
          </a:p>
        </p:txBody>
      </p:sp>
    </p:spTree>
    <p:extLst>
      <p:ext uri="{BB962C8B-B14F-4D97-AF65-F5344CB8AC3E}">
        <p14:creationId xmlns:p14="http://schemas.microsoft.com/office/powerpoint/2010/main" val="34931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2DCEE-9E49-A1F7-08EF-07A62075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2CF04A-14B0-EE3F-7ED3-3A9F641792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-1134208"/>
            <a:ext cx="8229240" cy="67160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Data Visualization Ethics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 and Decision-Making Studies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&amp; Power BI Documentation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OpenStax Data Science Resources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&amp; ACM Research Papers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Review Quarterly Publications </a:t>
            </a:r>
          </a:p>
        </p:txBody>
      </p:sp>
    </p:spTree>
    <p:extLst>
      <p:ext uri="{BB962C8B-B14F-4D97-AF65-F5344CB8AC3E}">
        <p14:creationId xmlns:p14="http://schemas.microsoft.com/office/powerpoint/2010/main" val="172436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34764</TotalTime>
  <Words>597</Words>
  <Application>Microsoft Office PowerPoint</Application>
  <PresentationFormat>On-screen Show (4:3)</PresentationFormat>
  <Paragraphs>188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MS PGothic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Abstract</vt:lpstr>
      <vt:lpstr>Introduction</vt:lpstr>
      <vt:lpstr>Objectives &amp; Scope</vt:lpstr>
      <vt:lpstr>Methodology</vt:lpstr>
      <vt:lpstr>Tools &amp; Technologies</vt:lpstr>
      <vt:lpstr>Tools and Technologies</vt:lpstr>
      <vt:lpstr>Implementation</vt:lpstr>
      <vt:lpstr>Major Findings / Results</vt:lpstr>
      <vt:lpstr>Major Findings / Results</vt:lpstr>
      <vt:lpstr>Conclusion &amp;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Microsoft account</cp:lastModifiedBy>
  <cp:revision>2303</cp:revision>
  <dcterms:created xsi:type="dcterms:W3CDTF">2010-04-09T07:36:15Z</dcterms:created>
  <dcterms:modified xsi:type="dcterms:W3CDTF">2026-05-14T18:26:16Z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